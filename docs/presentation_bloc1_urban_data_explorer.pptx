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60000"/>
            <a:ext cx="12193200" cy="2880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0000"/>
            <a:ext cx="180000" cy="288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512000"/>
            <a:ext cx="111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URBAN DATA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592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86C1"/>
                </a:solidFill>
              </a:rPr>
              <a:t>Projet Architecture de données — Bloc 1 RNCP40875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311999"/>
            <a:ext cx="11113200" cy="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3528000"/>
            <a:ext cx="11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AAB7B8"/>
                </a:solidFill>
              </a:rPr>
              <a:t>Certification : RNCP40875 — Expert en Ingénierie des données</a:t>
            </a:r>
          </a:p>
          <a:p>
            <a:pPr algn="l"/>
            <a:r>
              <a:rPr sz="1400">
                <a:solidFill>
                  <a:srgbClr val="AAB7B8"/>
                </a:solidFill>
              </a:rPr>
              <a:t>Étudiants : Yoann DOSSOU-YOVO  |  Cheick COULIBALY  |  Yannick ONGOLO ONGOLO  |  Darrel NGADJUI</a:t>
            </a:r>
          </a:p>
          <a:p>
            <a:pPr algn="l"/>
            <a:r>
              <a:rPr sz="1400">
                <a:solidFill>
                  <a:srgbClr val="AAB7B8"/>
                </a:solidFill>
              </a:rPr>
              <a:t>Efrei — Paris Panthéon-Assas Université  |  Soutenance : 2 &amp; 3 juillet 2026</a:t>
            </a:r>
          </a:p>
          <a:p>
            <a:pPr algn="l"/>
            <a:r>
              <a:rPr sz="1400">
                <a:solidFill>
                  <a:srgbClr val="AAB7B8"/>
                </a:solidFill>
              </a:rPr>
              <a:t>Compétences : C1.1 · C1.2 · C1.3 · C1.4 · C2.1 · C2.2 · C2.3 · C2.4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15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 — Contexte &amp; Besoin métier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368000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Problématique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Comment agréger 13 sources hétérogènes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(CSV.gz, JSON, GeoJSON, API REST) en une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architecture fiable, scalable et exploitable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en quasi-temps réel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0" y="1368000"/>
            <a:ext cx="52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Ce que le projet produit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13 sources open data intégrées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20 arrondissements parisiens couverts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~120k transactions DVF Silver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4 indicateurs de qualité de vie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1 API REST 11 endpoints + 1 Dashboard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Pipeline Bronze → Silver → Gold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• Batch nightly 02h00 + Streaming 30s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78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381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DVF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2000" y="378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8000" y="381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RPLS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4000" y="378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0" y="381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INSEE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96000" y="378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2000" y="381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IDFM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48000" y="378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000" y="381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Éducation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432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00" y="435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2000" y="432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28000" y="435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44000" y="432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000" y="435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AIRPARIF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96000" y="432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32000" y="435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SSMSI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8000" y="432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000" y="435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DRIHL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86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00" y="489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geo.api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2000" y="486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28000" y="489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Paris 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44000" y="4860000"/>
            <a:ext cx="1007999" cy="39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000" y="4896000"/>
            <a:ext cx="9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BRUITPARIF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15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 — Architecture globale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720000"/>
            <a:ext cx="10080000" cy="79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756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SOURCES (13 APIs)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827999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DVF, RPLS, INSEE, IDFM, OSM, AIRPARIF…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000" y="151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1980000"/>
            <a:ext cx="10080000" cy="792000"/>
          </a:xfrm>
          <a:prstGeom prst="rect">
            <a:avLst/>
          </a:prstGeom>
          <a:solidFill>
            <a:srgbClr val="6E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2015999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0" y="20880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JSON / CSV bruts — idempotents, skip si présent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0" y="2772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240000"/>
            <a:ext cx="10080000" cy="792000"/>
          </a:xfrm>
          <a:prstGeom prst="rect">
            <a:avLst/>
          </a:prstGeom>
          <a:solidFill>
            <a:srgbClr val="147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3276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0" y="33480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Parquet nettoyé + géo-join GeoPandas sjoin()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0000" y="4031999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4500000"/>
            <a:ext cx="10080000" cy="792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4536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0" y="46080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Agrégats par arrondissement/année + batch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5580000"/>
            <a:ext cx="10080000" cy="108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" y="5580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Couche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" y="5868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PostgreSQL + PostGIS  →  C1.1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0" y="5868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MongoDB 7  →  C1.2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5868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FastAPI REST  →  C2.1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000" y="619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APScheduler Batch  →  C2.2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0" y="619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Streaming 30s  →  C2.2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0000" y="619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Dashboard MapLibre  →  Frontend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15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 — Data Lake Bronze / Silver / Gold  [C1.3]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3600000" cy="540000"/>
          </a:xfrm>
          <a:prstGeom prst="rect">
            <a:avLst/>
          </a:prstGeom>
          <a:solidFill>
            <a:srgbClr val="6E2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404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1944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7B8"/>
                </a:solidFill>
              </a:rPr>
              <a:t>data/bronze/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2340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2376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JSON, CSV, GeoJSON bruts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000" y="2844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288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13 fichiers originaux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000" y="3348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" y="3384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Conservés intacts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3851999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000" y="3887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Skip si déjà présent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000" y="4356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000" y="439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Idempotence garantie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8000" y="1368000"/>
            <a:ext cx="3600000" cy="540000"/>
          </a:xfrm>
          <a:prstGeom prst="rect">
            <a:avLst/>
          </a:prstGeom>
          <a:solidFill>
            <a:srgbClr val="147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6000" y="1404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000" y="1944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7B8"/>
                </a:solidFill>
              </a:rPr>
              <a:t>data/silver/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6000" y="2340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4000" y="2376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Parquet columnar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6000" y="2844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4000" y="288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Nettoyage + typage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6000" y="3348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4000" y="3384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Géo-join GeoPandas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6000" y="3851999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4000" y="3887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~120k lignes DVF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36000" y="4356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4000" y="439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~10× compression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6000" y="1368000"/>
            <a:ext cx="3600000" cy="54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4000" y="1404000"/>
            <a:ext cx="34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4000" y="1944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7B8"/>
                </a:solidFill>
              </a:rPr>
              <a:t>data/gold/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24000" y="2340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2000" y="2376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Parquet agrégé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24000" y="2844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2000" y="288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prix_m2 × arrond × année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24000" y="3348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32000" y="3384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4 indicateurs custom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24000" y="3851999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32000" y="3887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Gold final consolidé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24000" y="4356000"/>
            <a:ext cx="3384000" cy="432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2000" y="439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Batch reports JSON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0000" y="5112000"/>
            <a:ext cx="11160000" cy="129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0000" y="5184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Qualité des données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547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DVF : ~150k brutes → ~120k Silver (filtre prix 1k–50k€/m²)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80000" y="547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Géo-join GeoPandas sjoin() : coordonnées GPS → arrondissement EPSG:4326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000" y="586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Bronze :ro dans Docker — données originales protégées en écriture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0000" y="586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UPSERT PostgreSQL — chargements répétés sans doublons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15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 — Bases de données  [C1.1 + C1.2]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5580000" cy="720000"/>
          </a:xfrm>
          <a:prstGeom prst="rect">
            <a:avLst/>
          </a:prstGeom>
          <a:solidFill>
            <a:srgbClr val="147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4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PostgreSQL 16 + PostGIS  [C1.1]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196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Modèle normalisé 3NF — 5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61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arrondissement (PK, geom MULTIPOLYGON, GIST index)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023999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transaction_dvf (FK, CHECK prix &gt; 0, ~120k lignes)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437999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prix_median (UNIQUE arrondissement × année)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851999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logement_social (CHECK 0–100, UNIQUE composite)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266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indicateur (UNIQUE arrondissement × catégorie × année)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6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UPSERT ON CONFLICT — chargements idempotents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093999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Endpoint /db/proximite — spatial PostGIS ST_DWithin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0000" y="1368000"/>
            <a:ext cx="5400000" cy="720000"/>
          </a:xfrm>
          <a:prstGeom prst="rect">
            <a:avLst/>
          </a:prstGeom>
          <a:solidFill>
            <a:srgbClr val="1B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0000" y="144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MongoDB 7  [C1.2]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000" y="2196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Schémas hétérogènes : 13 APIs = 13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0000" y="261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Collection bronze_raw — payloads bruts complets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0000" y="30239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Collection data_catalog — 13 sources documentées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0000" y="34379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Collection stream_events — TTL 30 jours (auto-purge)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0000" y="38519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Document-oriented : 1 source = 1 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0000" y="4266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pymongo : insertion bulk, requêtes filtrées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0000" y="468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Endpoint /mongo/catalog — catalogue des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0000" y="50939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Endpoint /stream/air-quality — derniers événements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5832000"/>
            <a:ext cx="11160000" cy="90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5903999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Pourquoi deux bases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615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PostgreSQL → données structurées, schéma stable, requêtes filtrables, jointures spatiales PostGIS
MongoDB → données hétérogènes, schéma variable, traçabilité brute, streaming events TTL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15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 — Infrastructure &amp; API  [C1.4 + C2.1]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368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Docker Compose — 6 services avec healthchecks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800000"/>
            <a:ext cx="2160000" cy="28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1818000"/>
            <a:ext cx="20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0" y="1800000"/>
            <a:ext cx="2520000" cy="28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2000" y="1818000"/>
            <a:ext cx="24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000" y="1800000"/>
            <a:ext cx="1080000" cy="28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92000" y="1818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2880000" cy="28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818000"/>
            <a:ext cx="27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Rôle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124000"/>
            <a:ext cx="216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000" y="2160000"/>
            <a:ext cx="20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postgres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124000"/>
            <a:ext cx="252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2000" y="2160000"/>
            <a:ext cx="24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postgis:16-3.4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0000" y="2124000"/>
            <a:ext cx="108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2000" y="2160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5433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2124000"/>
            <a:ext cx="288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2000" y="2160000"/>
            <a:ext cx="27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Base relationnelle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2466000"/>
            <a:ext cx="216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" y="2502000"/>
            <a:ext cx="20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mongo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0000" y="2466000"/>
            <a:ext cx="252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2000" y="2502000"/>
            <a:ext cx="24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mongo:7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20000" y="2466000"/>
            <a:ext cx="108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2000" y="2502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27017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000" y="2466000"/>
            <a:ext cx="288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2000" y="2502000"/>
            <a:ext cx="27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Base NoSQL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2808000"/>
            <a:ext cx="216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000" y="2844000"/>
            <a:ext cx="20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00000" y="2808000"/>
            <a:ext cx="252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2000" y="2844000"/>
            <a:ext cx="24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Python 3.11 slim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20000" y="2808000"/>
            <a:ext cx="108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92000" y="2844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0000" y="2808000"/>
            <a:ext cx="288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2000" y="2844000"/>
            <a:ext cx="27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000" y="3150000"/>
            <a:ext cx="216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000" y="3186000"/>
            <a:ext cx="20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00000" y="3150000"/>
            <a:ext cx="252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72000" y="3186000"/>
            <a:ext cx="24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nginx:alpine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20000" y="3150000"/>
            <a:ext cx="108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92000" y="3186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0000" y="3150000"/>
            <a:ext cx="288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2000" y="3186000"/>
            <a:ext cx="27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Frontend statique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000" y="3491999"/>
            <a:ext cx="216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000" y="3527999"/>
            <a:ext cx="20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adminer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00000" y="3491999"/>
            <a:ext cx="252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72000" y="3527999"/>
            <a:ext cx="24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adminer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20000" y="3491999"/>
            <a:ext cx="108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92000" y="3527999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0000" y="3491999"/>
            <a:ext cx="2880000" cy="306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2000" y="3527999"/>
            <a:ext cx="27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UI PostgreSQL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0000" y="3834000"/>
            <a:ext cx="216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2000" y="3870000"/>
            <a:ext cx="20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mongo-express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00000" y="3834000"/>
            <a:ext cx="252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72000" y="3870000"/>
            <a:ext cx="241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mongo-express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20000" y="3834000"/>
            <a:ext cx="108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92000" y="3870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8081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0000" y="3834000"/>
            <a:ext cx="2880000" cy="306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2000" y="3870000"/>
            <a:ext cx="27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UI MongoDB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0000" y="4320000"/>
            <a:ext cx="5220000" cy="234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0000" y="439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Résilience  [C1.4]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000" y="4716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restart: unless-stopped — tous services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0000" y="5076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Healthcheck PG (pg_isready) + Mongo (mongosh)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000" y="5436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depends_on + condition: service_healthy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0000" y="5796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Volumes nommés persistants (postgres_data, mongo_data)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0000" y="6156000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Tests Locust : 100+ req/s, 0% erreurs validés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0000" y="4320000"/>
            <a:ext cx="5760000" cy="234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80000" y="439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API FastAPI  [C2.1]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0000" y="4716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11 endpoints REST documentés (Swagger /docs)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80000" y="5076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Auth API Key (Authorization header, Pydantic v2)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80000" y="5436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DuckDB — Gold Parquet in-process &lt; 50 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80000" y="5796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SQLAlchemy — PostgreSQL indexé &lt; 10 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80000" y="6156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pymongo — accès MongoDB async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80000" y="6516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CORS configuré pour le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15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6 — Batch, Streaming &amp; Transformation  [C2.2 + C2.3]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5400000" cy="72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04000"/>
            <a:ext cx="50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BATCH — DVF nightly  [C2.2]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196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APScheduler CronTrigger : 02h00 chaque nuit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574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Tolérance retard : 1h (misfire_grace_time)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9519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Bronze DVF CSV.gz → Silver → Gold Parquet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33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UPSERT PostgreSQL (prix_median, indicateur)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708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Rapport JSON horodaté → gold/batch_reports/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86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Endpoint API : GET /batch/status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0000" y="1368000"/>
            <a:ext cx="5400000" cy="72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0000" y="1404000"/>
            <a:ext cx="50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STREAMING — Air quality 30s  [C2.2]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0000" y="2196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Interrogation AIRPARIF toutes les 30 secondes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0000" y="2574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Fallback simulation si API hors quota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000" y="2951999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Parquet horodaté → data/gold/stream/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0000" y="333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Stockage MongoDB → collection stream_events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0000" y="3708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TTL index 30 jours — purge automatique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0000" y="4086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Endpoint : GET /stream/air-quality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4752000"/>
            <a:ext cx="11160000" cy="198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482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TRANSFORMATION multi-sources  [C2.3]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5220000"/>
            <a:ext cx="3671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Nettoyage : filtre prix m² &lt; 1 000 ou &gt; 50 000 €/m²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0000" y="5220000"/>
            <a:ext cx="3671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Normalisation : types homogènes (dates ISO, floats, 1–20)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000" y="5220000"/>
            <a:ext cx="3671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Géo-jointure GeoPandas sjoin() EPSG:4326 → arrondissement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760000"/>
            <a:ext cx="3671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Harmonisation : colonnes unifiées entre les 13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0000" y="5760000"/>
            <a:ext cx="367199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Fallback : données statiques si API indisponible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15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7 — Optimisation &amp; Preuves techniques  [C2.4]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2088000" cy="1260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4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</a:rPr>
              <a:t>&lt; 50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7B8"/>
                </a:solidFill>
              </a:rPr>
              <a:t>Requêtes DuckDB
sur Gold Parquet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8000" y="1368000"/>
            <a:ext cx="2088000" cy="1260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000" y="14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</a:rPr>
              <a:t>&lt; 10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0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7B8"/>
                </a:solidFill>
              </a:rPr>
              <a:t>Requêtes PostgreSQL
indexées (B-tree+GIST)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6000" y="1368000"/>
            <a:ext cx="2088000" cy="1260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000" y="14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</a:rPr>
              <a:t>~10×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0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7B8"/>
                </a:solidFill>
              </a:rPr>
              <a:t>Compression
Parquet vs 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43999" y="1368000"/>
            <a:ext cx="2088000" cy="1260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000" y="14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</a:rPr>
              <a:t>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0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7B8"/>
                </a:solidFill>
              </a:rPr>
              <a:t>Requêtes/s
Locust validées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2000" y="1368000"/>
            <a:ext cx="2088000" cy="1260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00" y="144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0" y="2088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7B8"/>
                </a:solidFill>
              </a:rPr>
              <a:t>Sources Gold
initial &lt; 60s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2808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Cartographie compétences ↔ preuves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" y="3168000"/>
            <a:ext cx="972000" cy="324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2000" y="3186000"/>
            <a:ext cx="9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Compétence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0" y="3168000"/>
            <a:ext cx="3491999" cy="324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71999" y="318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Fichier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0000" y="3168000"/>
            <a:ext cx="5292000" cy="324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2000" y="3186000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Preuve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0000" y="3528000"/>
            <a:ext cx="972000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2000" y="3564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C1.1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0" y="3528000"/>
            <a:ext cx="3491999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1999" y="3564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db/postgres.py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0000" y="3528000"/>
            <a:ext cx="5292000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2000" y="3564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Schéma 3NF, PK/FK/CHECK, index GIST + B-tree, PostGIS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0000" y="3916800"/>
            <a:ext cx="972000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2000" y="39528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C1.2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0" y="3916800"/>
            <a:ext cx="3491999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1999" y="39528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db/mongo.py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0000" y="3916800"/>
            <a:ext cx="5292000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2000" y="39528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Collections, TTL index, payloads hétérogènes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0000" y="4305600"/>
            <a:ext cx="972000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2000" y="43416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C1.3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0000" y="4305600"/>
            <a:ext cx="3491999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71999" y="43416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data/ + ingestion/ + pipeline/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0000" y="4305600"/>
            <a:ext cx="5292000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2000" y="43416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Structure B/S/G, 13 sources, ~120k lignes DVF Silver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0000" y="4694400"/>
            <a:ext cx="972000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52000" y="47304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C1.4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00000" y="4694400"/>
            <a:ext cx="3491999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71999" y="47304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docker-compose.yml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0000" y="4694400"/>
            <a:ext cx="5292000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2000" y="47304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 services, healthchecks, restart, Locust 100+ req/s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0000" y="5083200"/>
            <a:ext cx="972000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52000" y="51192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C2.1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00000" y="5083200"/>
            <a:ext cx="3491999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71999" y="51192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api/main.py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0000" y="5083200"/>
            <a:ext cx="5292000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2000" y="51192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async, Swagger /docs, Auth, 11 endpoints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80000" y="5472000"/>
            <a:ext cx="972000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52000" y="5508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C2.2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0" y="5472000"/>
            <a:ext cx="3491999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71999" y="5508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batch_processor.py + streaming_microbatch.py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0000" y="5472000"/>
            <a:ext cx="5292000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2000" y="55080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Batch 02h00 + Streaming 30s → MongoDB TTL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80000" y="5860800"/>
            <a:ext cx="972000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52000" y="58968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C2.3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00000" y="5860800"/>
            <a:ext cx="3491999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71999" y="58968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pipeline/silver_*.py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0000" y="5860800"/>
            <a:ext cx="5292000" cy="360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92000" y="58968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Géo-join GeoPandas, nettoyage, harmonisation 13 sources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80000" y="6249600"/>
            <a:ext cx="972000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52000" y="62856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C2.4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00000" y="6249600"/>
            <a:ext cx="3491999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1999" y="62856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tests/locustfile.py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0000" y="6249600"/>
            <a:ext cx="5292000" cy="360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92000" y="6285600"/>
            <a:ext cx="52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DuckDB &lt; 50ms, PG &lt; 10ms, bulk insert, Parquet 10×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152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152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88000"/>
            <a:ext cx="11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8 — Résultats, Limites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368000"/>
            <a:ext cx="3420000" cy="720000"/>
          </a:xfrm>
          <a:prstGeom prst="rect">
            <a:avLst/>
          </a:prstGeom>
          <a:solidFill>
            <a:srgbClr val="147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404000"/>
            <a:ext cx="32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Résultats obtenus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232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13 sources → Data Lake opérationnel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592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~120k lignes DVF transformées 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951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11 endpoints API, Swagger,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311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5 tables PostgreSQL normalisées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671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3 collections MongoDB + TTL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31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Dashboard : carte + timeline + 4 ind.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392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Batch APScheduler 02h00 opérationnel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752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Streaming micro-batch 30s →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112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Locust : 100+ req/s, 0% erreurs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0" y="1368000"/>
            <a:ext cx="3420000" cy="72000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0" y="1404000"/>
            <a:ext cx="32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Limites identifiées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0" y="223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 APIs instables → fallback statique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000" y="2664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 DVF &gt;200 Mo → exclu du git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000" y="3096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 API Key simple (pas JWT/OAuth2)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3528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 Streaming partiellement simulé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000" y="396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 PG non partitionné (&lt;200k OK)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0000" y="1368000"/>
            <a:ext cx="3780000" cy="720000"/>
          </a:xfrm>
          <a:prstGeom prst="rect">
            <a:avLst/>
          </a:prstGeom>
          <a:solidFill>
            <a:srgbClr val="1B6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0000" y="1404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Améliorations possibles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000" y="223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Kafka (installé) → streaming distribué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2664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Cloud Azure / AWS (Data Factory)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000" y="3096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OAuth2 + JWT multi-utilisateurs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000" y="3528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Partitionnement PG (&gt;1M lignes)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000" y="396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Airflow DAG + Great Expectations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5580000"/>
            <a:ext cx="11160000" cy="1188000"/>
          </a:xfrm>
          <a:prstGeom prst="rect">
            <a:avLst/>
          </a:prstGeom>
          <a:solidFill>
            <a:srgbClr val="0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00" y="565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Synthèse des compétences démontrées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6048000"/>
            <a:ext cx="1296000" cy="64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00" y="6066000"/>
            <a:ext cx="12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C1.1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" y="6263999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PostgreSQL 3NF
+ PostGIS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5999" y="6048000"/>
            <a:ext cx="1296000" cy="64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1999" y="6066000"/>
            <a:ext cx="12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C1.2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1999" y="6263999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MongoDB
collections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11999" y="6048000"/>
            <a:ext cx="1296000" cy="64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7999" y="6066000"/>
            <a:ext cx="12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C1.3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47999" y="6263999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Data Lake
B→S→G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8000" y="6048000"/>
            <a:ext cx="1296000" cy="64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4000" y="6066000"/>
            <a:ext cx="12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C1.4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34000" y="6263999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Docker Compose
6 services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3999" y="6048000"/>
            <a:ext cx="1296000" cy="64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0000" y="6066000"/>
            <a:ext cx="12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C2.1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0000" y="6263999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FastAPI
11 endpoints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0000" y="6048000"/>
            <a:ext cx="1296000" cy="64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6000" y="6066000"/>
            <a:ext cx="12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C2.2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06000" y="6263999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Batch 02h00
+ Stream 30s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56000" y="6048000"/>
            <a:ext cx="1296000" cy="64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92000" y="6066000"/>
            <a:ext cx="12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C2.3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92000" y="6263999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13 sources
géo-joinées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2000" y="6048000"/>
            <a:ext cx="1296000" cy="64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78000" y="6066000"/>
            <a:ext cx="122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C2.4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78000" y="6263999"/>
            <a:ext cx="12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&lt;50ms
100+ req/s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